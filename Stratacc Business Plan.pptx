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7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9" r:id="rId14"/>
    <p:sldId id="278" r:id="rId15"/>
    <p:sldId id="271" r:id="rId16"/>
    <p:sldId id="272" r:id="rId17"/>
    <p:sldId id="273" r:id="rId18"/>
    <p:sldId id="276" r:id="rId19"/>
    <p:sldId id="279" r:id="rId20"/>
    <p:sldId id="283" r:id="rId21"/>
    <p:sldId id="284" r:id="rId22"/>
    <p:sldId id="282" r:id="rId23"/>
    <p:sldId id="286" r:id="rId24"/>
    <p:sldId id="285" r:id="rId25"/>
    <p:sldId id="288" r:id="rId26"/>
    <p:sldId id="289" r:id="rId27"/>
    <p:sldId id="290" r:id="rId28"/>
    <p:sldId id="291" r:id="rId29"/>
    <p:sldId id="293" r:id="rId30"/>
    <p:sldId id="294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9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–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229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CF88CD-9C3B-4B3C-8479-6045D774BB59}" type="datetimeFigureOut">
              <a:rPr lang="en-GB" smtClean="0"/>
              <a:t>08/07/2026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72B1D7-31E3-4DE1-8CD9-861E9D11EB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0597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72B1D7-31E3-4DE1-8CD9-861E9D11EBC4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5697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6367B-DE9F-B759-CB5E-5E9BBAB27E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36F478-539C-6B0D-E225-148FAD95BE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8663E-C010-296A-05C8-F5C9C6F96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26C42-948E-4214-9F89-FD444C352B16}" type="datetimeFigureOut">
              <a:rPr lang="en-GB" smtClean="0"/>
              <a:t>08/07/2026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CD4017-A398-9390-7D7F-C68CD384F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D4646-75EA-DCF3-F45F-C4F57A037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7EA18-DC0A-4B31-9D2C-0935EC39F5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4044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46097-D790-3921-71D1-38D060696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352FA-2E1A-ACCE-D690-6F6B84B632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B00879-A09D-FE19-DAC1-5BB05F452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26C42-948E-4214-9F89-FD444C352B16}" type="datetimeFigureOut">
              <a:rPr lang="en-GB" smtClean="0"/>
              <a:t>08/07/2026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8697F-7661-9E82-9292-CF26AF42A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93871-935A-CC76-50C1-B8907A87A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7EA18-DC0A-4B31-9D2C-0935EC39F5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501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9553D-500B-84A8-A57C-EA6E6B8BC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1C43AB-5911-90F2-A5A7-77BEB7F72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84253-9CAE-DDD6-630A-93916E101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26C42-948E-4214-9F89-FD444C352B16}" type="datetimeFigureOut">
              <a:rPr lang="en-GB" smtClean="0"/>
              <a:t>08/07/2026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D0208-CB71-038B-EAA2-A8858559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E9E3C-DF1A-592B-70BF-8E900ECA6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7EA18-DC0A-4B31-9D2C-0935EC39F5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7742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9C96C-0C09-8242-855E-177963FCB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E3EF5-7962-9B76-5EE8-F5D091BFB3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DA75EA-DC17-E882-6980-343E44A4C0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F89F62-FD38-3587-6F42-B7EA48EA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26C42-948E-4214-9F89-FD444C352B16}" type="datetimeFigureOut">
              <a:rPr lang="en-GB" smtClean="0"/>
              <a:t>08/07/2026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CA3B4C-8532-B377-D9E2-3C4C1BED2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53A14-4377-23DB-BBC4-396C4AB8E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7EA18-DC0A-4B31-9D2C-0935EC39F5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4806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19A33-AC51-39B2-0BCA-C532E2BDD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4ABD5-96D9-3963-A376-EDF49EA1AF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A422F5-F663-F64C-FCB4-5538EDBBE7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E0A82D-FB58-9FE8-6BDE-BD868961B7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DF9B84-903C-B1E9-879D-D783D223FC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BB1A9F-44F0-B1C4-4B0F-A1E87A7B0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26C42-948E-4214-9F89-FD444C352B16}" type="datetimeFigureOut">
              <a:rPr lang="en-GB" smtClean="0"/>
              <a:t>08/07/2026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6E0E86-99B9-CB3B-1429-44CBE0507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57D210-C4A3-00A5-AC8D-7FDD2E773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7EA18-DC0A-4B31-9D2C-0935EC39F5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6319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52E22-BA05-C93F-6EF7-77405C88E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C85097-2053-8B60-8B08-7BC7BBFFB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26C42-948E-4214-9F89-FD444C352B16}" type="datetimeFigureOut">
              <a:rPr lang="en-GB" smtClean="0"/>
              <a:t>08/07/2026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DF417A-8C46-1A72-59B7-3A9638E0A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E5DD49-F558-E6BC-D4D1-42B459D15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7EA18-DC0A-4B31-9D2C-0935EC39F5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2669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F8A9A7-7732-0C8E-77D0-1546BD87E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26C42-948E-4214-9F89-FD444C352B16}" type="datetimeFigureOut">
              <a:rPr lang="en-GB" smtClean="0"/>
              <a:t>08/07/2026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567D39-B94A-1F1A-630C-17C563F31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31C375-F3CC-B6B6-CA4E-5A76A1352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7EA18-DC0A-4B31-9D2C-0935EC39F5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5998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B4136-5541-C4FF-61A8-5E00A34E1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DD779-8B09-F02D-2AAF-AA60D4F637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AA6E3D-95DF-8385-CE4D-B4BDD904ED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C00F0A-9329-256F-9248-AE323DFC0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26C42-948E-4214-9F89-FD444C352B16}" type="datetimeFigureOut">
              <a:rPr lang="en-GB" smtClean="0"/>
              <a:t>08/07/2026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444AC8-0B6B-A36A-56DA-E9DED3513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2B97D8-1EC2-A332-680F-A36074161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7EA18-DC0A-4B31-9D2C-0935EC39F5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8568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25303-4D3B-349C-E817-808AD247E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C10CA8-E4FC-AAD7-FF5D-33B709CE51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C75802-B305-C330-518F-4E12EB008F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857001-B483-D0EF-5227-AEA95379D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26C42-948E-4214-9F89-FD444C352B16}" type="datetimeFigureOut">
              <a:rPr lang="en-GB" smtClean="0"/>
              <a:t>08/07/2026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01F2DF-02E1-8BBB-4732-67801F81A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248E5F-A064-9375-27D1-E1C5547AB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7EA18-DC0A-4B31-9D2C-0935EC39F5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176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E3399-B980-2F54-0FCE-2D922392B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E4EE8E-1337-73AF-9F75-AC59B7B506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507D7-3B93-D92C-6199-1E1683DFA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26C42-948E-4214-9F89-FD444C352B16}" type="datetimeFigureOut">
              <a:rPr lang="en-GB" smtClean="0"/>
              <a:t>08/07/2026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577C6-AD8D-6478-3B1E-3BB347C8C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75384-68B3-773E-1F8E-84CC139EB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7EA18-DC0A-4B31-9D2C-0935EC39F5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6193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3D33D1-9F91-55CE-A992-E17968B4FE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68AD66-4481-8229-65B1-C6D5E8A644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D0608-EABA-40A2-EBA0-A9671EA03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26C42-948E-4214-9F89-FD444C352B16}" type="datetimeFigureOut">
              <a:rPr lang="en-GB" smtClean="0"/>
              <a:t>08/07/2026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CDD1-E404-EA84-8303-1D9A44F41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123A88-41F5-5BFD-C662-758D7BBED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7EA18-DC0A-4B31-9D2C-0935EC39F5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2799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60A8AA-DEBD-F2E8-1A83-2255B770B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694E65-4598-E05A-DE13-5E2C92A950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556C5-02F6-878C-E218-1D8488A45F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426C42-948E-4214-9F89-FD444C352B16}" type="datetimeFigureOut">
              <a:rPr lang="en-GB" smtClean="0"/>
              <a:t>08/07/2026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B1881D-FB45-0EA9-86FA-22B27C8D9B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3EECBC-6811-AAC2-1851-2A5FBF0E0F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67EA18-DC0A-4B31-9D2C-0935EC39F5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7736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C4162A2-4C90-B4DB-FE12-240BACA56F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137780"/>
            <a:ext cx="9144000" cy="827881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Business Plan 2026-2027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FE18629-BE76-0166-C14A-34D8E031F5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29161" y="1597359"/>
            <a:ext cx="7672039" cy="337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047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3BB5-0131-FB0A-66E2-1EF7E361E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dirty="0">
                <a:solidFill>
                  <a:srgbClr val="002924"/>
                </a:solidFill>
              </a:rPr>
              <a:t>Company Description</a:t>
            </a:r>
            <a:endParaRPr lang="en-GB" sz="3600" dirty="0">
              <a:solidFill>
                <a:srgbClr val="00292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17033-6193-E7A9-9B80-06B0BD33F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b="1" dirty="0"/>
              <a:t>Mission</a:t>
            </a:r>
          </a:p>
          <a:p>
            <a:r>
              <a:rPr lang="en-GB" dirty="0"/>
              <a:t>To deliver exceptional commercial and cost consultancy services built on trust, technical excellence, and long‑term partnership.</a:t>
            </a:r>
          </a:p>
          <a:p>
            <a:pPr marL="0" indent="0">
              <a:buNone/>
            </a:pPr>
            <a:r>
              <a:rPr lang="en-GB" b="1" dirty="0"/>
              <a:t>Vision</a:t>
            </a:r>
          </a:p>
          <a:p>
            <a:r>
              <a:rPr lang="en-GB" dirty="0"/>
              <a:t>To become a trusted strategic partner to clients across multiple sectors, securing repeat business and sustainable growth through consistent quality, deep market insight, and a reputation for reliability.</a:t>
            </a:r>
          </a:p>
          <a:p>
            <a:pPr marL="0" indent="0">
              <a:buNone/>
            </a:pPr>
            <a:r>
              <a:rPr lang="en-GB" b="1" dirty="0"/>
              <a:t>What Makes SCC Different</a:t>
            </a:r>
          </a:p>
          <a:p>
            <a:r>
              <a:rPr lang="en-GB" dirty="0"/>
              <a:t>A dual perspective across </a:t>
            </a:r>
            <a:r>
              <a:rPr lang="en-GB" b="1" dirty="0"/>
              <a:t>client‑side and contractor‑side</a:t>
            </a:r>
            <a:r>
              <a:rPr lang="en-GB" dirty="0"/>
              <a:t> delivery</a:t>
            </a:r>
          </a:p>
          <a:p>
            <a:r>
              <a:rPr lang="en-GB" dirty="0"/>
              <a:t>A leadership team with </a:t>
            </a:r>
            <a:r>
              <a:rPr lang="en-GB" b="1" dirty="0"/>
              <a:t>extensive claims expertise</a:t>
            </a:r>
            <a:endParaRPr lang="en-GB" dirty="0"/>
          </a:p>
          <a:p>
            <a:r>
              <a:rPr lang="en-GB" dirty="0"/>
              <a:t>A relationship‑driven approach supported by targeted, high‑impact marketing</a:t>
            </a:r>
          </a:p>
          <a:p>
            <a:r>
              <a:rPr lang="en-GB" dirty="0"/>
              <a:t>A commitment to </a:t>
            </a:r>
            <a:r>
              <a:rPr lang="en-GB" b="1" dirty="0"/>
              <a:t>technology‑enabled efficiency</a:t>
            </a:r>
            <a:r>
              <a:rPr lang="en-GB" dirty="0"/>
              <a:t> without compromising quality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58A2A7-372C-EF90-4979-2971533D8B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1789" y="230188"/>
            <a:ext cx="2594042" cy="11414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51674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ECD7F7-B2B7-FE81-90EF-BC7C60C54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649BEB4-FF40-6B1B-2454-ADC211A456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137780"/>
            <a:ext cx="9144000" cy="827881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Market Analysis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1EA76F6-99FD-551C-3C48-505F97AA90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29161" y="1597359"/>
            <a:ext cx="7672039" cy="337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203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831B7-FFBC-5669-BD69-14A1311D6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3AB35-E27E-027E-0ED5-9FAC21EC5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dirty="0">
                <a:solidFill>
                  <a:srgbClr val="002924"/>
                </a:solidFill>
              </a:rPr>
              <a:t>Market Analysis: The QS Market</a:t>
            </a:r>
            <a:endParaRPr lang="en-GB" sz="3600" dirty="0">
              <a:solidFill>
                <a:srgbClr val="00292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EE57F-F27B-62E4-43A6-D22A4F807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GB" dirty="0"/>
              <a:t>The UK continues to face a shortage of qualified Quantity Surveyors.</a:t>
            </a:r>
          </a:p>
          <a:p>
            <a:r>
              <a:rPr lang="en-GB" dirty="0"/>
              <a:t>It is well documented that the UK suffers from a shortage of appropriately experienced and qualified QS’s. SCC is positioned for sustainable, scalable growth through a diversified sector strategy, strong client relationships, specialist expertise, and a commitment to quality and innovation. The business has a clear route to profitability, a defensible market position, and a compelling value proposition for clients across the UK.</a:t>
            </a:r>
          </a:p>
          <a:p>
            <a:pPr marL="0" indent="0">
              <a:buNone/>
            </a:pPr>
            <a:r>
              <a:rPr lang="en-GB" dirty="0"/>
              <a:t>This shortage is driven by:</a:t>
            </a:r>
          </a:p>
          <a:p>
            <a:r>
              <a:rPr lang="en-GB" dirty="0"/>
              <a:t>An ageing workforce not being replaced at the required rate</a:t>
            </a:r>
          </a:p>
          <a:p>
            <a:r>
              <a:rPr lang="en-GB" dirty="0"/>
              <a:t>Increasing project complexity</a:t>
            </a:r>
          </a:p>
          <a:p>
            <a:r>
              <a:rPr lang="en-GB" dirty="0"/>
              <a:t>Project cost volatility</a:t>
            </a:r>
          </a:p>
          <a:p>
            <a:r>
              <a:rPr lang="en-GB" dirty="0"/>
              <a:t>Rising demand for dispute resolution and claims expertise</a:t>
            </a:r>
          </a:p>
          <a:p>
            <a:pPr marL="0" indent="0">
              <a:buNone/>
            </a:pPr>
            <a:r>
              <a:rPr lang="en-GB" i="1" dirty="0"/>
              <a:t>“Studies indicate that </a:t>
            </a:r>
            <a:r>
              <a:rPr lang="en-GB" b="1" i="1" dirty="0"/>
              <a:t>50% of projects in 2025 were impacted by a lack of QS support</a:t>
            </a:r>
            <a:r>
              <a:rPr lang="en-GB" i="1" dirty="0"/>
              <a:t>. This creates a significant opportunity for respected, well‑connected practices able to recruit, train, and retain high‑calibre staff”.</a:t>
            </a:r>
          </a:p>
          <a:p>
            <a:pPr marL="0" indent="0">
              <a:buNone/>
            </a:pPr>
            <a:r>
              <a:rPr lang="en-GB" i="1" dirty="0"/>
              <a:t>https://www.constructionenquirer.com/2025/10/20/qs-shortage-hampering-half-of-all-projects/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A3E7AD-A283-E92F-3E5B-4FCF62A600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1789" y="230188"/>
            <a:ext cx="2594042" cy="11414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94795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CA777-DF55-E70D-190F-A444C1A64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B386D-7446-55E4-9282-3906D88F5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dirty="0">
                <a:solidFill>
                  <a:srgbClr val="002924"/>
                </a:solidFill>
              </a:rPr>
              <a:t>Market Analysis: Sector Diversification </a:t>
            </a:r>
            <a:br>
              <a:rPr lang="en-GB" sz="3600" b="1" dirty="0">
                <a:solidFill>
                  <a:srgbClr val="002924"/>
                </a:solidFill>
              </a:rPr>
            </a:br>
            <a:r>
              <a:rPr lang="en-GB" sz="3600" b="1" dirty="0">
                <a:solidFill>
                  <a:srgbClr val="002924"/>
                </a:solidFill>
              </a:rPr>
              <a:t>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FFD76-033B-C91A-B84A-4D949B8CE8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/>
              <a:t>To mitigate sector‑specific downturns, SCC has structured its market approach across five clusters:</a:t>
            </a:r>
          </a:p>
          <a:p>
            <a:r>
              <a:rPr lang="en-GB" b="1" dirty="0"/>
              <a:t>Social Housing</a:t>
            </a:r>
            <a:endParaRPr lang="en-GB" dirty="0"/>
          </a:p>
          <a:p>
            <a:r>
              <a:rPr lang="en-GB" b="1" dirty="0"/>
              <a:t>Social Housing Claims</a:t>
            </a:r>
            <a:endParaRPr lang="en-GB" dirty="0"/>
          </a:p>
          <a:p>
            <a:r>
              <a:rPr lang="en-GB" b="1" dirty="0"/>
              <a:t>Infrastructure</a:t>
            </a:r>
            <a:endParaRPr lang="en-GB" dirty="0"/>
          </a:p>
          <a:p>
            <a:r>
              <a:rPr lang="en-GB" b="1" dirty="0"/>
              <a:t>Contracting</a:t>
            </a:r>
            <a:endParaRPr lang="en-GB" dirty="0"/>
          </a:p>
          <a:p>
            <a:r>
              <a:rPr lang="en-GB" b="1" dirty="0"/>
              <a:t>Bank Monitoring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These clusters balance:</a:t>
            </a:r>
          </a:p>
          <a:p>
            <a:r>
              <a:rPr lang="en-GB" dirty="0"/>
              <a:t>High‑margin specialist work (claims, infrastructure)</a:t>
            </a:r>
          </a:p>
          <a:p>
            <a:r>
              <a:rPr lang="en-GB" dirty="0"/>
              <a:t>High‑volume cyclical work (bank monitoring, social housing)</a:t>
            </a:r>
          </a:p>
          <a:p>
            <a:r>
              <a:rPr lang="en-GB" dirty="0"/>
              <a:t>Economically resilient work (contracting disputes)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414DC5-69D9-7192-01EB-A9348981C6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1789" y="230188"/>
            <a:ext cx="2594042" cy="11414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14552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F6150-89BB-3DB9-B3A5-66D2AC3DB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50B7B-7D3A-E581-CC13-A78377E68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dirty="0">
                <a:solidFill>
                  <a:srgbClr val="002924"/>
                </a:solidFill>
              </a:rPr>
              <a:t>Sector Deep Dives</a:t>
            </a:r>
            <a:endParaRPr lang="en-GB" sz="3600" dirty="0">
              <a:solidFill>
                <a:srgbClr val="00292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81835-BC2A-BE6E-883D-9E3EDA0FDF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002924"/>
                </a:solidFill>
              </a:rPr>
              <a:t>Social Housing </a:t>
            </a:r>
          </a:p>
          <a:p>
            <a:r>
              <a:rPr lang="en-GB" dirty="0"/>
              <a:t>The UK’s ageing social housing stock and government commitments to increase capacity create sustained demand.</a:t>
            </a:r>
          </a:p>
          <a:p>
            <a:r>
              <a:rPr lang="en-GB" dirty="0"/>
              <a:t>Labour have pledged in their manifesto to build around 1.5  million new social and affordable houses.</a:t>
            </a:r>
          </a:p>
          <a:p>
            <a:r>
              <a:rPr lang="en-GB" dirty="0"/>
              <a:t>As well as The Mayor securing up to £11.7 billion to deliver the London Social and Affordable Homes Programme, which will run from 2026 to 2036.</a:t>
            </a:r>
          </a:p>
          <a:p>
            <a:r>
              <a:rPr lang="en-GB" dirty="0"/>
              <a:t>The above will allow SCC to use its existing relationships within established supply chains to support delivery and drive organic revenue growth.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07B4EE-844F-DBA5-ACC6-79D66775EA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1789" y="230188"/>
            <a:ext cx="2594042" cy="11414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81546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BFE3C-BCDA-291A-B4A2-932190428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7593D-6814-9531-12E0-8362A0470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dirty="0">
                <a:solidFill>
                  <a:srgbClr val="002924"/>
                </a:solidFill>
              </a:rPr>
              <a:t>Sector Deep Dives</a:t>
            </a:r>
            <a:endParaRPr lang="en-GB" sz="3600" dirty="0">
              <a:solidFill>
                <a:srgbClr val="00292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73380-0541-04F1-AEC3-05BC1A1E9A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002924"/>
                </a:solidFill>
              </a:rPr>
              <a:t>Social Housing Claims </a:t>
            </a:r>
          </a:p>
          <a:p>
            <a:r>
              <a:rPr lang="en-GB" dirty="0"/>
              <a:t>SCC’s partnership with a specialist claims organisation provides immediate access to high‑value workstreams.</a:t>
            </a:r>
          </a:p>
          <a:p>
            <a:r>
              <a:rPr lang="en-GB" dirty="0"/>
              <a:t>SCC are unique with their extensive claims experience partnered with their connections and reputation within the social housing market.</a:t>
            </a:r>
          </a:p>
          <a:p>
            <a:r>
              <a:rPr lang="en-GB" dirty="0"/>
              <a:t>Claims work commands significantly higher rates than day‑to‑day QS services, and SCC’s combined expertise and relationships create a defensible niche.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05C100-0B66-F4DC-492B-22BE06563D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1789" y="230188"/>
            <a:ext cx="2594042" cy="11414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63471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6F0FF-98C8-1ACE-19FD-457F88DE8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C7FD0-837A-3141-B257-58ABAD32A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dirty="0">
                <a:solidFill>
                  <a:srgbClr val="002924"/>
                </a:solidFill>
              </a:rPr>
              <a:t>Sector Deep Dives</a:t>
            </a:r>
            <a:endParaRPr lang="en-GB" sz="3600" dirty="0">
              <a:solidFill>
                <a:srgbClr val="00292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03319-09B5-E587-C432-66A131DEC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002924"/>
                </a:solidFill>
              </a:rPr>
              <a:t>Infrastructure </a:t>
            </a:r>
          </a:p>
          <a:p>
            <a:r>
              <a:rPr lang="en-GB" dirty="0"/>
              <a:t>SCC has a 10‑year relationship with Manchester Airport Group (MAG), providing a stable pipeline of medium‑sized team revenue.</a:t>
            </a:r>
          </a:p>
          <a:p>
            <a:r>
              <a:rPr lang="en-GB" dirty="0"/>
              <a:t>The expectation is that there will be opportunities to grow this team as MAG’s expansion plans commence.</a:t>
            </a:r>
          </a:p>
          <a:p>
            <a:pPr marL="0" indent="0">
              <a:buNone/>
            </a:pPr>
            <a:r>
              <a:rPr lang="en-GB" b="1" dirty="0"/>
              <a:t>Contracting</a:t>
            </a:r>
          </a:p>
          <a:p>
            <a:r>
              <a:rPr lang="en-GB" dirty="0"/>
              <a:t>SCC has a strong reputation for resolving complex disputes on live projects. Dispute‑related work typically increases during economic downturns, providing economical resilience.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BAAB57-CF97-D44F-4D09-CB09117293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1789" y="230188"/>
            <a:ext cx="2594042" cy="11414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85026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2DD28-7F71-D7DB-51A0-8E226059B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FEF17-CA06-A672-852B-FE758C108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dirty="0">
                <a:solidFill>
                  <a:srgbClr val="002924"/>
                </a:solidFill>
              </a:rPr>
              <a:t>Sector Deep Dives</a:t>
            </a:r>
            <a:endParaRPr lang="en-GB" sz="3600" dirty="0">
              <a:solidFill>
                <a:srgbClr val="00292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4890C-4229-8C7B-DABB-CE06BE0FDD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002924"/>
                </a:solidFill>
              </a:rPr>
              <a:t>Bank Monitoring </a:t>
            </a:r>
          </a:p>
          <a:p>
            <a:r>
              <a:rPr lang="en-GB" dirty="0"/>
              <a:t>A high‑volume, lower‑margin service line with strong training potential for junior staff.</a:t>
            </a:r>
          </a:p>
          <a:p>
            <a:r>
              <a:rPr lang="en-GB" dirty="0"/>
              <a:t>As of mid-2025, total outstanding development loans in the UK are estimated at a long-term high of £32 billion, with a further £25 billion in undrawn commitments.</a:t>
            </a:r>
          </a:p>
          <a:p>
            <a:r>
              <a:rPr lang="en-GB" dirty="0"/>
              <a:t>SCC’s strategic partnership provides immediate access to this market.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2AFEA6-2E6B-7F53-11EE-5E5617BA3F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1789" y="230188"/>
            <a:ext cx="2594042" cy="11414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72273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05C09-F73F-7D28-36C6-5B81293D0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97006-BE81-4FFC-0AF6-28738F967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dirty="0">
                <a:solidFill>
                  <a:srgbClr val="002924"/>
                </a:solidFill>
              </a:rPr>
              <a:t>Competitor Analysis</a:t>
            </a:r>
            <a:endParaRPr lang="en-GB" sz="3600" dirty="0">
              <a:solidFill>
                <a:srgbClr val="00292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DFBA9-94B4-DBB5-5D42-3BE7F42F5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Large National Consultancies (LNCs)</a:t>
            </a:r>
          </a:p>
          <a:p>
            <a:pPr marL="0" indent="0">
              <a:buNone/>
            </a:pPr>
            <a:r>
              <a:rPr lang="en-GB" b="1" dirty="0"/>
              <a:t>Strengths: </a:t>
            </a:r>
            <a:r>
              <a:rPr lang="en-GB" dirty="0"/>
              <a:t>brand recognition, framework access, scale.</a:t>
            </a:r>
          </a:p>
          <a:p>
            <a:pPr marL="0" indent="0">
              <a:buNone/>
            </a:pPr>
            <a:r>
              <a:rPr lang="en-GB" b="1" dirty="0"/>
              <a:t>Weaknesses: </a:t>
            </a:r>
            <a:r>
              <a:rPr lang="en-GB" dirty="0"/>
              <a:t>Compliance driven, less agile and less personable.</a:t>
            </a:r>
          </a:p>
          <a:p>
            <a:pPr marL="0" indent="0">
              <a:buNone/>
            </a:pPr>
            <a:r>
              <a:rPr lang="en-GB" dirty="0"/>
              <a:t>SCC differentiates through:</a:t>
            </a:r>
          </a:p>
          <a:p>
            <a:r>
              <a:rPr lang="en-GB" dirty="0"/>
              <a:t>Consistent senior oversight</a:t>
            </a:r>
          </a:p>
          <a:p>
            <a:r>
              <a:rPr lang="en-GB" dirty="0"/>
              <a:t>High quality service</a:t>
            </a:r>
          </a:p>
          <a:p>
            <a:r>
              <a:rPr lang="en-GB" dirty="0"/>
              <a:t>Responsive decision‑making</a:t>
            </a:r>
          </a:p>
          <a:p>
            <a:r>
              <a:rPr lang="en-GB" dirty="0"/>
              <a:t>Recruitment of high‑performing LNC staff seeking accelerated progression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40C12D-A3DA-1914-20C4-56F77C4AD8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1789" y="230188"/>
            <a:ext cx="2594042" cy="11414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1559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E8245-B3FC-99F9-200C-B8B82C2A7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750BC-B4D0-4C78-24F4-A1C101649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dirty="0">
                <a:solidFill>
                  <a:srgbClr val="002924"/>
                </a:solidFill>
              </a:rPr>
              <a:t>Competitor Analysis: </a:t>
            </a:r>
            <a:endParaRPr lang="en-GB" sz="3600" dirty="0">
              <a:solidFill>
                <a:srgbClr val="00292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A17D2-6804-FB1C-9583-5751A7240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SME Consultancies</a:t>
            </a:r>
          </a:p>
          <a:p>
            <a:pPr marL="0" indent="0">
              <a:buNone/>
            </a:pPr>
            <a:r>
              <a:rPr lang="en-GB" b="1" dirty="0"/>
              <a:t>Strengths: </a:t>
            </a:r>
            <a:r>
              <a:rPr lang="en-GB" dirty="0"/>
              <a:t>agility, relationship‑driven delivery. </a:t>
            </a:r>
          </a:p>
          <a:p>
            <a:pPr marL="0" indent="0">
              <a:buNone/>
            </a:pPr>
            <a:r>
              <a:rPr lang="en-GB" b="1" dirty="0"/>
              <a:t>Weaknesses: </a:t>
            </a:r>
            <a:r>
              <a:rPr lang="en-GB" dirty="0"/>
              <a:t>limited scalability, inconsistent quality.</a:t>
            </a:r>
          </a:p>
          <a:p>
            <a:pPr marL="0" indent="0">
              <a:buNone/>
            </a:pPr>
            <a:r>
              <a:rPr lang="en-GB" dirty="0"/>
              <a:t>SCC’s strategy:</a:t>
            </a:r>
          </a:p>
          <a:p>
            <a:r>
              <a:rPr lang="en-GB" dirty="0"/>
              <a:t>Targeted priority client; one‑to‑one marketing</a:t>
            </a:r>
          </a:p>
          <a:p>
            <a:r>
              <a:rPr lang="en-GB" dirty="0"/>
              <a:t>Leveraging referrals from satisfied clients</a:t>
            </a:r>
          </a:p>
          <a:p>
            <a:r>
              <a:rPr lang="en-GB" dirty="0"/>
              <a:t>Strategic partnerships with complementary SMEs (Non‑Competing SMEs)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9FBEB6-A77A-16CD-339C-D802196883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1789" y="230188"/>
            <a:ext cx="2594042" cy="11414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464407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E7EBF-EB57-A289-AC26-2A2E35193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4F6A4-1AF1-66ED-60C8-03C138DB7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dirty="0">
                <a:solidFill>
                  <a:srgbClr val="002924"/>
                </a:solidFill>
              </a:rPr>
              <a:t>Competitor Analysis</a:t>
            </a:r>
            <a:endParaRPr lang="en-GB" sz="3600" dirty="0">
              <a:solidFill>
                <a:srgbClr val="00292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D1141-3E4E-2E37-D299-82FEAB5D5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Internal PAYE Staff &amp; Sole Traders</a:t>
            </a:r>
          </a:p>
          <a:p>
            <a:pPr marL="0" indent="0">
              <a:buNone/>
            </a:pPr>
            <a:r>
              <a:rPr lang="en-GB" b="1" dirty="0"/>
              <a:t>Strengths: </a:t>
            </a:r>
            <a:r>
              <a:rPr lang="en-GB" dirty="0"/>
              <a:t>lower cost. </a:t>
            </a:r>
          </a:p>
          <a:p>
            <a:pPr marL="0" indent="0">
              <a:buNone/>
            </a:pPr>
            <a:r>
              <a:rPr lang="en-GB" b="1" dirty="0"/>
              <a:t>Weaknesses: </a:t>
            </a:r>
            <a:r>
              <a:rPr lang="en-GB" dirty="0"/>
              <a:t>limited capacity, limited expertise, lack of senior oversight.</a:t>
            </a:r>
          </a:p>
          <a:p>
            <a:pPr marL="0" indent="0">
              <a:buNone/>
            </a:pPr>
            <a:r>
              <a:rPr lang="en-GB" dirty="0"/>
              <a:t>SCC competes by offering:</a:t>
            </a:r>
          </a:p>
          <a:p>
            <a:r>
              <a:rPr lang="en-GB" dirty="0"/>
              <a:t>Specialist expertise</a:t>
            </a:r>
          </a:p>
          <a:p>
            <a:r>
              <a:rPr lang="en-GB" dirty="0"/>
              <a:t>Senior involvement</a:t>
            </a:r>
          </a:p>
          <a:p>
            <a:r>
              <a:rPr lang="en-GB" dirty="0"/>
              <a:t>Immediate deployment</a:t>
            </a:r>
          </a:p>
          <a:p>
            <a:r>
              <a:rPr lang="en-GB" dirty="0"/>
              <a:t>No training burden on the client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312903-3EB0-13C5-44FB-D74A4B2FBD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1789" y="230188"/>
            <a:ext cx="2594042" cy="11414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68983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3EB59-BC00-84BA-9F94-2AA19F56D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750B7-52DC-A59A-2271-76E6A52F1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dirty="0"/>
              <a:t>Unique Selling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D8493-9E3B-A977-845A-BBE20A638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>
                <a:solidFill>
                  <a:srgbClr val="002924"/>
                </a:solidFill>
              </a:rPr>
              <a:t>Technological Niche </a:t>
            </a:r>
          </a:p>
          <a:p>
            <a:r>
              <a:rPr lang="en-GB" dirty="0"/>
              <a:t>SCC is actively integrating AI‑enabled tools to improve efficiency while maintaining quality. </a:t>
            </a:r>
          </a:p>
          <a:p>
            <a:r>
              <a:rPr lang="en-GB" dirty="0"/>
              <a:t>Used correctly, this will allow SCC to outperform competitors on speed, accuracy, and cost‑to‑serve.</a:t>
            </a:r>
          </a:p>
          <a:p>
            <a:pPr marL="0" indent="0">
              <a:buNone/>
            </a:pPr>
            <a:r>
              <a:rPr lang="en-GB" dirty="0"/>
              <a:t>SCC is one of the few consultancies operating effectively on both client‑side and contractor‑side. This dual perspective provides:</a:t>
            </a:r>
          </a:p>
          <a:p>
            <a:r>
              <a:rPr lang="en-GB" dirty="0"/>
              <a:t>Deeper market insight</a:t>
            </a:r>
          </a:p>
          <a:p>
            <a:r>
              <a:rPr lang="en-GB" dirty="0"/>
              <a:t>Better understanding of stakeholder motivations</a:t>
            </a:r>
          </a:p>
          <a:p>
            <a:r>
              <a:rPr lang="en-GB" dirty="0"/>
              <a:t>More balanced commercial advice</a:t>
            </a:r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6791DC-57D7-D8EF-0B45-D3D89402B0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1789" y="230188"/>
            <a:ext cx="2594042" cy="11414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927136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DEC267-A210-19E5-B114-506D789F0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BD2C187-4538-6543-96FA-7C6333F32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137780"/>
            <a:ext cx="9144000" cy="827881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Services &amp; Pricing Strategy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197EC50-C175-EFA1-35BE-C5FE766047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29161" y="1597359"/>
            <a:ext cx="7672039" cy="337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320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46E16-D2D4-A088-3C84-6F44F299C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435BE-B5AF-A220-B4E9-FAD8CAD47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dirty="0">
                <a:solidFill>
                  <a:srgbClr val="002924"/>
                </a:solidFill>
              </a:rPr>
              <a:t>Service Lines</a:t>
            </a:r>
            <a:endParaRPr lang="en-GB" sz="3600" dirty="0">
              <a:solidFill>
                <a:srgbClr val="00292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FF897-9C84-417D-5867-2FA87C8DD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Initially SCC’s service offering will be split into four distinct sections:</a:t>
            </a:r>
          </a:p>
          <a:p>
            <a:pPr lvl="1"/>
            <a:r>
              <a:rPr lang="en-GB" b="1" dirty="0"/>
              <a:t>Pre-Contract Services.</a:t>
            </a:r>
          </a:p>
          <a:p>
            <a:pPr lvl="1"/>
            <a:r>
              <a:rPr lang="en-GB" b="1" dirty="0"/>
              <a:t>Post-Contract Services.</a:t>
            </a:r>
          </a:p>
          <a:p>
            <a:pPr lvl="1"/>
            <a:r>
              <a:rPr lang="en-GB" b="1" dirty="0"/>
              <a:t>Claims Services.</a:t>
            </a:r>
          </a:p>
          <a:p>
            <a:pPr lvl="1"/>
            <a:r>
              <a:rPr lang="en-GB" b="1" dirty="0"/>
              <a:t>Bank Monitoring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BF4CBD-94D9-76DD-07AD-19E6563609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1789" y="230188"/>
            <a:ext cx="2594042" cy="11414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66356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E8752-704C-0280-A72A-50C1975DA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7C924-94E5-A425-3E6C-4D5443BBC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dirty="0">
                <a:solidFill>
                  <a:srgbClr val="002924"/>
                </a:solidFill>
              </a:rPr>
              <a:t>Services Lines</a:t>
            </a:r>
            <a:endParaRPr lang="en-GB" sz="3600" dirty="0">
              <a:solidFill>
                <a:srgbClr val="00292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455C1-5E81-6563-4572-7E3CC32B8D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002924"/>
                </a:solidFill>
              </a:rPr>
              <a:t>Pre Contract </a:t>
            </a:r>
          </a:p>
          <a:p>
            <a:r>
              <a:rPr lang="en-GB" dirty="0"/>
              <a:t>Primarily fixed‑fee work including contract reviews, procurement support, and cost planning. </a:t>
            </a:r>
          </a:p>
          <a:p>
            <a:r>
              <a:rPr lang="en-GB" dirty="0"/>
              <a:t>These services act as a gateway to longer‑term post‑contract engagements.</a:t>
            </a:r>
          </a:p>
          <a:p>
            <a:pPr marL="0" indent="0">
              <a:buNone/>
            </a:pPr>
            <a:r>
              <a:rPr lang="en-GB" b="1" dirty="0"/>
              <a:t>Post‑Contract Services</a:t>
            </a:r>
          </a:p>
          <a:p>
            <a:r>
              <a:rPr lang="en-GB" dirty="0"/>
              <a:t>Day‑to‑day commercial management, typically charged on a time‑based model. SCC aims to transition suitable clients to fixed monthly fees, supported by technology‑driven efficiencies.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9CD70C-84F6-BB9F-CF9C-F6AEA77C32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1789" y="230188"/>
            <a:ext cx="2594042" cy="11414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73377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546CA-A112-8240-3E85-D77F0498D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34A5A-4C1B-B74A-F567-93C5B6A5B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dirty="0">
                <a:solidFill>
                  <a:srgbClr val="002924"/>
                </a:solidFill>
              </a:rPr>
              <a:t>Services Lines</a:t>
            </a:r>
            <a:endParaRPr lang="en-GB" sz="3600" dirty="0">
              <a:solidFill>
                <a:srgbClr val="00292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AD294-D362-32E7-C3C1-4099C8DE6F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Claims Services</a:t>
            </a:r>
          </a:p>
          <a:p>
            <a:r>
              <a:rPr lang="en-GB" dirty="0"/>
              <a:t>High‑margin, specialist work delivered by experienced claims professionals. Typically time‑based, with future opportunities to integrate AI‑supported analysis</a:t>
            </a:r>
          </a:p>
          <a:p>
            <a:pPr marL="0" indent="0">
              <a:buNone/>
            </a:pPr>
            <a:r>
              <a:rPr lang="en-GB" b="1" dirty="0"/>
              <a:t>Bank Monitoring</a:t>
            </a:r>
          </a:p>
          <a:p>
            <a:r>
              <a:rPr lang="en-GB" dirty="0"/>
              <a:t>High‑volume, fixed‑fee reporting. Ideal for training junior staff supported by technology to improve efficiency and margins.</a:t>
            </a:r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6B7316-1EBC-25F5-D3A2-7F1A5D3668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1789" y="230188"/>
            <a:ext cx="2594042" cy="11414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420984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44C69-F0B6-B108-0524-807E87E60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77350-E8B3-D172-11D4-119C14C90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dirty="0">
                <a:solidFill>
                  <a:srgbClr val="002924"/>
                </a:solidFill>
              </a:rPr>
              <a:t>Further Potential Service Offerings</a:t>
            </a:r>
            <a:endParaRPr lang="en-GB" sz="3600" dirty="0">
              <a:solidFill>
                <a:srgbClr val="00292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79B32-2BE7-A6F3-4B24-4E90BF8A17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Whilst SCC currently only intends to initially offer the above services, SCC are keen to explore other high growth markets and are currently engaged in positive discussions with:</a:t>
            </a:r>
          </a:p>
          <a:p>
            <a:pPr lvl="1"/>
            <a:r>
              <a:rPr lang="en-GB" dirty="0"/>
              <a:t>The lead of a fire engineering &amp; claims division turning over approx. £6m.</a:t>
            </a:r>
          </a:p>
          <a:p>
            <a:pPr lvl="1"/>
            <a:r>
              <a:rPr lang="en-GB" dirty="0"/>
              <a:t>Several project management organisations.</a:t>
            </a:r>
          </a:p>
          <a:p>
            <a:pPr lvl="1"/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483C0C-812E-07EE-51E8-324C64AD7B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1789" y="230188"/>
            <a:ext cx="2594042" cy="11414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293789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DA22A7-F270-A22F-7624-481B3D62B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EF8DF96-FA2B-E8A3-FF3F-8F3415E610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137780"/>
            <a:ext cx="9144000" cy="827881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Go to Market Strategy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CBE51BB-DB59-AD17-86D8-DD5E35F6F1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29161" y="1597359"/>
            <a:ext cx="7672039" cy="337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8620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BF2BE-B792-84BA-F8BC-B9FE2FC7C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96B24-7E04-93DC-22B7-453C8B05B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dirty="0"/>
              <a:t>Go‑To‑Market Strategy</a:t>
            </a:r>
            <a:endParaRPr lang="en-GB" sz="3600" b="1" dirty="0">
              <a:solidFill>
                <a:srgbClr val="00292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C272C-2A6A-B97F-5283-11B3176524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1. Relationship‑Led Growth</a:t>
            </a:r>
          </a:p>
          <a:p>
            <a:r>
              <a:rPr lang="en-GB" dirty="0"/>
              <a:t>Targeted “priority client” client programme</a:t>
            </a:r>
          </a:p>
          <a:p>
            <a:r>
              <a:rPr lang="en-GB" dirty="0"/>
              <a:t>Senior‑led engagement</a:t>
            </a:r>
          </a:p>
          <a:p>
            <a:r>
              <a:rPr lang="en-GB" dirty="0"/>
              <a:t>Referral‑driven expansion</a:t>
            </a:r>
          </a:p>
          <a:p>
            <a:pPr marL="0" indent="0">
              <a:buNone/>
            </a:pPr>
            <a:r>
              <a:rPr lang="en-GB" b="1" dirty="0"/>
              <a:t>2. Sector‑Specific Positioning</a:t>
            </a:r>
          </a:p>
          <a:p>
            <a:r>
              <a:rPr lang="en-GB" dirty="0"/>
              <a:t>Tailored messaging for each cluster, emphasising SCC’s unique strengths.</a:t>
            </a:r>
          </a:p>
          <a:p>
            <a:pPr lvl="1"/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E6D1E6-82FB-D14C-D1A0-2865423D2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1789" y="230188"/>
            <a:ext cx="2594042" cy="11414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563309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A91BF-F9F9-4BF9-D4D7-419567367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0FD52-248C-F4B9-7CCD-AA8C7EF2C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dirty="0"/>
              <a:t>Go‑To‑Market Strategy</a:t>
            </a:r>
            <a:endParaRPr lang="en-GB" sz="3600" b="1" dirty="0">
              <a:solidFill>
                <a:srgbClr val="00292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5C600-81FA-A36C-2D35-BB8756F9B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3. Strategic Partnerships</a:t>
            </a:r>
          </a:p>
          <a:p>
            <a:r>
              <a:rPr lang="en-GB" dirty="0"/>
              <a:t>Claims specialists</a:t>
            </a:r>
          </a:p>
          <a:p>
            <a:r>
              <a:rPr lang="en-GB" dirty="0"/>
              <a:t>Bank monitoring providers</a:t>
            </a:r>
          </a:p>
          <a:p>
            <a:r>
              <a:rPr lang="en-GB" dirty="0"/>
              <a:t>Project management firms</a:t>
            </a:r>
          </a:p>
          <a:p>
            <a:pPr marL="0" indent="0">
              <a:buNone/>
            </a:pPr>
            <a:r>
              <a:rPr lang="en-GB" b="1" dirty="0"/>
              <a:t>4. Technology‑Enabled Differentiation</a:t>
            </a:r>
          </a:p>
          <a:p>
            <a:r>
              <a:rPr lang="en-GB" dirty="0"/>
              <a:t>Faster turnaround, improved accuracy, and enhanced reporting.</a:t>
            </a:r>
          </a:p>
          <a:p>
            <a:pPr lvl="1"/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935C1A-9D1F-5B0F-5C27-9561CC8501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1789" y="230188"/>
            <a:ext cx="2594042" cy="11414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329899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66B5BC-294E-A6D1-0AAD-6E82FFDF6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935F35-A1F8-6D32-3E3C-643034DC6B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137780"/>
            <a:ext cx="9144000" cy="827881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People &amp; Recruitment Strategy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AA12150-6D62-164B-0B07-D2809D25A6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29161" y="1597359"/>
            <a:ext cx="7672039" cy="337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452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D4614-4B0F-2074-43F7-80F616E94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2C1FD-0501-532D-0C10-A74DDB18A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dirty="0"/>
              <a:t>People &amp; Recruitment Strategy </a:t>
            </a:r>
            <a:endParaRPr lang="en-GB" sz="3600" b="1" dirty="0">
              <a:solidFill>
                <a:srgbClr val="00292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A5A5F-CA7B-3B91-FF85-52FDE3F0A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b="1" dirty="0"/>
              <a:t>Recruitment Priorities</a:t>
            </a:r>
          </a:p>
          <a:p>
            <a:r>
              <a:rPr lang="en-GB" dirty="0"/>
              <a:t>High‑performing QSs from LNCs seeking progression</a:t>
            </a:r>
          </a:p>
          <a:p>
            <a:r>
              <a:rPr lang="en-GB" dirty="0"/>
              <a:t>Claims specialists</a:t>
            </a:r>
          </a:p>
          <a:p>
            <a:r>
              <a:rPr lang="en-GB" dirty="0"/>
              <a:t>Junior staff for bank monitoring and post‑contract work</a:t>
            </a:r>
          </a:p>
          <a:p>
            <a:pPr marL="0" indent="0">
              <a:buNone/>
            </a:pPr>
            <a:r>
              <a:rPr lang="en-GB" b="1" dirty="0"/>
              <a:t>Retention Strategy</a:t>
            </a:r>
          </a:p>
          <a:p>
            <a:r>
              <a:rPr lang="en-GB" dirty="0"/>
              <a:t>Clear progression pathways</a:t>
            </a:r>
          </a:p>
          <a:p>
            <a:r>
              <a:rPr lang="en-GB" dirty="0"/>
              <a:t>Senior mentorship</a:t>
            </a:r>
          </a:p>
          <a:p>
            <a:r>
              <a:rPr lang="en-GB" dirty="0"/>
              <a:t>Structured training and development programme </a:t>
            </a:r>
          </a:p>
          <a:p>
            <a:r>
              <a:rPr lang="en-GB" dirty="0"/>
              <a:t>Exposure to manage high‑value projects</a:t>
            </a:r>
          </a:p>
          <a:p>
            <a:r>
              <a:rPr lang="en-GB" dirty="0"/>
              <a:t>Competitive remuneration</a:t>
            </a:r>
          </a:p>
          <a:p>
            <a:pPr lvl="1"/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E5C321-63E6-8CB0-C9B3-9E9BA7B123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1789" y="230188"/>
            <a:ext cx="2594042" cy="11414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44451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99983C-F5D1-6BD1-3973-AC315F152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2A072DE-5BA2-9D19-735A-D8073BA0FA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137780"/>
            <a:ext cx="9144000" cy="827881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Risk &amp; Mitigation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4874912-DD52-B144-6EDC-88BADBF4C2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29161" y="1597359"/>
            <a:ext cx="7672039" cy="337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4600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A1704-9517-24E0-C8AF-3E27448D4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2C5C1-E361-B4F4-8884-84D2BFD17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dirty="0"/>
              <a:t>Risk &amp; Mitigation</a:t>
            </a:r>
            <a:endParaRPr lang="en-GB" sz="3600" b="1" dirty="0">
              <a:solidFill>
                <a:srgbClr val="002924"/>
              </a:solidFill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DAC7A36-B770-B708-3990-09E6BF085D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9052317"/>
              </p:ext>
            </p:extLst>
          </p:nvPr>
        </p:nvGraphicFramePr>
        <p:xfrm>
          <a:off x="838200" y="1825624"/>
          <a:ext cx="10515600" cy="3565998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54394084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822044238"/>
                    </a:ext>
                  </a:extLst>
                </a:gridCol>
              </a:tblGrid>
              <a:tr h="496569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Risk </a:t>
                      </a:r>
                    </a:p>
                  </a:txBody>
                  <a:tcPr>
                    <a:solidFill>
                      <a:srgbClr val="0029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/>
                        <a:t>Mitigation</a:t>
                      </a:r>
                    </a:p>
                  </a:txBody>
                  <a:tcPr>
                    <a:solidFill>
                      <a:srgbClr val="0029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501124"/>
                  </a:ext>
                </a:extLst>
              </a:tr>
              <a:tr h="857091">
                <a:tc>
                  <a:txBody>
                    <a:bodyPr/>
                    <a:lstStyle/>
                    <a:p>
                      <a:r>
                        <a:rPr lang="en-GB" sz="2000" dirty="0"/>
                        <a:t>Recruitment challenges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Early pipeline building, competitive packages, strong culture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0028045"/>
                  </a:ext>
                </a:extLst>
              </a:tr>
              <a:tr h="496569">
                <a:tc>
                  <a:txBody>
                    <a:bodyPr/>
                    <a:lstStyle/>
                    <a:p>
                      <a:r>
                        <a:rPr lang="en-GB" sz="2000" dirty="0"/>
                        <a:t>Client diversity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Diversified cluster strategy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994306"/>
                  </a:ext>
                </a:extLst>
              </a:tr>
              <a:tr h="496569">
                <a:tc>
                  <a:txBody>
                    <a:bodyPr/>
                    <a:lstStyle/>
                    <a:p>
                      <a:r>
                        <a:rPr lang="en-GB" sz="2000" dirty="0"/>
                        <a:t>Economic downturn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Economically resilient claims and dispute 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228124"/>
                  </a:ext>
                </a:extLst>
              </a:tr>
              <a:tr h="496569">
                <a:tc>
                  <a:txBody>
                    <a:bodyPr/>
                    <a:lstStyle/>
                    <a:p>
                      <a:r>
                        <a:rPr lang="en-GB" sz="2000" dirty="0"/>
                        <a:t>Over‑reliance on partners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Multi‑partner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1041133"/>
                  </a:ext>
                </a:extLst>
              </a:tr>
              <a:tr h="496569">
                <a:tc>
                  <a:txBody>
                    <a:bodyPr/>
                    <a:lstStyle/>
                    <a:p>
                      <a:r>
                        <a:rPr lang="en-GB" sz="2000" dirty="0"/>
                        <a:t>Margin 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Technology‑enabled efficiency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0438202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CB2EF911-6ACA-8DA0-0CCC-57A7C3E83E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1789" y="230188"/>
            <a:ext cx="2594042" cy="11414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072483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E0F2F5-A7A4-AF59-598C-74B6CEE53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2D48E98-F8BA-55B5-8CE6-F643F0AB52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137780"/>
            <a:ext cx="9144000" cy="827881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12–24 Month Roadmap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0E64EE6-FF5C-185E-2F8F-24BA5E7117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29161" y="1597359"/>
            <a:ext cx="7672039" cy="337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5294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F5521-C974-46AC-3A90-AFF6A3801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42911-67AB-7C87-4421-A880B8E7B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dirty="0"/>
              <a:t>12–24 Month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D9FE8-3D55-9130-C42A-B627AC1A7C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Months 1–6</a:t>
            </a:r>
          </a:p>
          <a:p>
            <a:r>
              <a:rPr lang="en-GB" dirty="0"/>
              <a:t>Finalise partnerships</a:t>
            </a:r>
          </a:p>
          <a:p>
            <a:r>
              <a:rPr lang="en-GB" dirty="0"/>
              <a:t>Recruit initial team</a:t>
            </a:r>
          </a:p>
          <a:p>
            <a:r>
              <a:rPr lang="en-GB" dirty="0"/>
              <a:t>Secure/migrate cluster clients</a:t>
            </a:r>
          </a:p>
          <a:p>
            <a:r>
              <a:rPr lang="en-GB" dirty="0"/>
              <a:t>Implement AI‑enabled tools</a:t>
            </a:r>
          </a:p>
          <a:p>
            <a:pPr marL="0" indent="0">
              <a:buNone/>
            </a:pPr>
            <a:r>
              <a:rPr lang="en-GB" b="1" dirty="0"/>
              <a:t>Months 6–12</a:t>
            </a:r>
          </a:p>
          <a:p>
            <a:r>
              <a:rPr lang="en-GB" dirty="0"/>
              <a:t>Expand MAG team</a:t>
            </a:r>
          </a:p>
          <a:p>
            <a:r>
              <a:rPr lang="en-GB" dirty="0"/>
              <a:t>Launch bank monitoring service</a:t>
            </a:r>
          </a:p>
          <a:p>
            <a:r>
              <a:rPr lang="en-GB" dirty="0"/>
              <a:t>Convert clients to fixed‑fee models</a:t>
            </a:r>
          </a:p>
          <a:p>
            <a:pPr lvl="1"/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8A7879-907A-B090-8A02-C060A64564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1789" y="230188"/>
            <a:ext cx="2594042" cy="11414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430814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8E088-F961-FB77-6A56-E572BFC77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B0D08-3439-DEB4-D345-D17EDF82E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dirty="0"/>
              <a:t>12–24 Month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3D6DF-42FD-1559-D3A3-A88AFA03C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Months 12–24</a:t>
            </a:r>
          </a:p>
          <a:p>
            <a:r>
              <a:rPr lang="en-GB" dirty="0"/>
              <a:t>Become an established brand recognised by our clients</a:t>
            </a:r>
          </a:p>
          <a:p>
            <a:r>
              <a:rPr lang="en-GB" dirty="0"/>
              <a:t>Add fire engineering / PM services</a:t>
            </a:r>
          </a:p>
          <a:p>
            <a:r>
              <a:rPr lang="en-GB" dirty="0"/>
              <a:t>Scale to 20+ staff</a:t>
            </a:r>
          </a:p>
          <a:p>
            <a:r>
              <a:rPr lang="en-GB" dirty="0"/>
              <a:t>Target £2m+ revenue</a:t>
            </a:r>
          </a:p>
          <a:p>
            <a:pPr lvl="1"/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BA56DE-0025-EA40-4388-1102410DE8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1789" y="230188"/>
            <a:ext cx="2594042" cy="11414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661469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9BF748-ABF4-A502-E99E-D82BC4389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4F5F57A-BDB7-8EFF-D511-06FFCC79E2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137780"/>
            <a:ext cx="9144000" cy="827881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Conclusion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1CEFB5F-1708-0FFF-7D6E-A76D828024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29161" y="1597359"/>
            <a:ext cx="7672039" cy="337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5146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81AAD-63BE-A2D1-E569-B4038A512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A734A-3ED7-9460-CE78-782B29DF8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>
                <a:solidFill>
                  <a:srgbClr val="002924"/>
                </a:solidFill>
              </a:rPr>
              <a:t>Conclusion</a:t>
            </a:r>
            <a:endParaRPr lang="en-GB" sz="3600" dirty="0">
              <a:solidFill>
                <a:srgbClr val="00292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A3FDB-8145-5EC3-AE34-F9355890E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3200"/>
              <a:t>SCC is positioned for sustainable, scalable growth through a diversified sector strategy, strong client relationships, specialist expertise, and a commitment to quality and innovation. The business has a clear route to profitability, a defensible market position, and a compelling value proposition for clients across the UK.</a:t>
            </a:r>
            <a:endParaRPr lang="en-GB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84126D-62B7-B7CC-C846-0187CA1E5C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1789" y="230188"/>
            <a:ext cx="2594042" cy="11414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23848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</TotalTime>
  <Words>1391</Words>
  <Application>Microsoft Office PowerPoint</Application>
  <PresentationFormat>Widescreen</PresentationFormat>
  <Paragraphs>173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Aptos</vt:lpstr>
      <vt:lpstr>Aptos Display</vt:lpstr>
      <vt:lpstr>Arial</vt:lpstr>
      <vt:lpstr>Office Theme</vt:lpstr>
      <vt:lpstr>PowerPoint Presentation</vt:lpstr>
      <vt:lpstr>Company Description</vt:lpstr>
      <vt:lpstr>PowerPoint Presentation</vt:lpstr>
      <vt:lpstr>Market Analysis: The QS Market</vt:lpstr>
      <vt:lpstr>Market Analysis: Sector Diversification  Strategy</vt:lpstr>
      <vt:lpstr>Sector Deep Dives</vt:lpstr>
      <vt:lpstr>Sector Deep Dives</vt:lpstr>
      <vt:lpstr>Sector Deep Dives</vt:lpstr>
      <vt:lpstr>Sector Deep Dives</vt:lpstr>
      <vt:lpstr>Competitor Analysis</vt:lpstr>
      <vt:lpstr>Competitor Analysis: </vt:lpstr>
      <vt:lpstr>Competitor Analysis</vt:lpstr>
      <vt:lpstr>Unique Selling Points</vt:lpstr>
      <vt:lpstr>PowerPoint Presentation</vt:lpstr>
      <vt:lpstr>Service Lines</vt:lpstr>
      <vt:lpstr>Services Lines</vt:lpstr>
      <vt:lpstr>Services Lines</vt:lpstr>
      <vt:lpstr>Further Potential Service Offerings</vt:lpstr>
      <vt:lpstr>PowerPoint Presentation</vt:lpstr>
      <vt:lpstr>Go‑To‑Market Strategy</vt:lpstr>
      <vt:lpstr>Go‑To‑Market Strategy</vt:lpstr>
      <vt:lpstr>PowerPoint Presentation</vt:lpstr>
      <vt:lpstr>People &amp; Recruitment Strategy </vt:lpstr>
      <vt:lpstr>PowerPoint Presentation</vt:lpstr>
      <vt:lpstr>Risk &amp; Mitigation</vt:lpstr>
      <vt:lpstr>PowerPoint Presentation</vt:lpstr>
      <vt:lpstr>12–24 Month Roadmap</vt:lpstr>
      <vt:lpstr>12–24 Month Roadmap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Bettis</dc:creator>
  <cp:lastModifiedBy>William Rogers</cp:lastModifiedBy>
  <cp:revision>7</cp:revision>
  <dcterms:created xsi:type="dcterms:W3CDTF">2026-04-23T07:11:04Z</dcterms:created>
  <dcterms:modified xsi:type="dcterms:W3CDTF">2026-07-08T20:47:13Z</dcterms:modified>
</cp:coreProperties>
</file>